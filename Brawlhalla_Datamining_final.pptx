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21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Brawlhalla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Datamining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320040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De la source brute à la donnée exploitable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2514600" cy="118872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54864" cy="1188720"/>
          </a:xfrm>
          <a:prstGeom prst="rect">
            <a:avLst/>
          </a:prstGeom>
          <a:solidFill>
            <a:srgbClr val="A0672A"/>
          </a:solidFill>
          <a:ln w="12700">
            <a:solidFill>
              <a:srgbClr val="A06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04088" y="3218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672A"/>
                </a:solidFill>
              </a:rPr>
              <a:t>🥉  Bronze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3584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Données brutes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154680"/>
            <a:ext cx="2514600" cy="118872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91840" y="3154680"/>
            <a:ext cx="54864" cy="118872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93008" y="3218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681"/>
                </a:solidFill>
              </a:rPr>
              <a:t>🥈  Silver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93008" y="3584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Nettoyées &amp; typées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154680"/>
            <a:ext cx="2514600" cy="118872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54864" cy="1188720"/>
          </a:xfrm>
          <a:prstGeom prst="rect">
            <a:avLst/>
          </a:prstGeom>
          <a:solidFill>
            <a:srgbClr val="B8972A"/>
          </a:solidFill>
          <a:ln w="12700">
            <a:solidFill>
              <a:srgbClr val="B89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281928" y="3218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2A"/>
                </a:solidFill>
              </a:rPr>
              <a:t>🥇  Gold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3584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KPIs &amp; agrégations</a:t>
            </a:r>
            <a:endParaRPr lang="en-US" sz="1100" dirty="0"/>
          </a:p>
        </p:txBody>
      </p:sp>
      <p:pic>
        <p:nvPicPr>
          <p:cNvPr id="1026" name="Picture 2" descr="BrawlHalla Stories">
            <a:extLst>
              <a:ext uri="{FF2B5EF4-FFF2-40B4-BE49-F238E27FC236}">
                <a16:creationId xmlns:a16="http://schemas.microsoft.com/office/drawing/2014/main" id="{E97EF7A8-6976-B3F6-5F63-C93C08084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670" y="300609"/>
            <a:ext cx="451485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Choix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200289"/>
            <a:ext cx="4069080" cy="141732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27344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</a:rPr>
              <a:t>Le problème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1769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Brawlhalla n'a pas d'API publique officielle. Les données des 66 Légendes (nom, armes, image) sont dispersées sur le wiki communautaire Fandom.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024517"/>
            <a:ext cx="4069080" cy="1417320"/>
          </a:xfrm>
          <a:prstGeom prst="rect">
            <a:avLst/>
          </a:prstGeom>
          <a:solidFill>
            <a:srgbClr val="13181F"/>
          </a:solidFill>
          <a:ln w="12700">
            <a:solidFill>
              <a:srgbClr val="58A6F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309766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</a:rPr>
              <a:t>La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435997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Fandom tourne sur MediaWiki — le même moteur que Wikipédia. Son API publique /api.php retourne du JSON stable, paginé, légalement utilisable.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724912" cy="365760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45720" cy="3657600"/>
          </a:xfrm>
          <a:prstGeom prst="rect">
            <a:avLst/>
          </a:prstGeom>
          <a:solidFill>
            <a:srgbClr val="A0672A"/>
          </a:solidFill>
          <a:ln w="12700">
            <a:solidFill>
              <a:srgbClr val="A06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" y="868680"/>
            <a:ext cx="2724912" cy="411480"/>
          </a:xfrm>
          <a:prstGeom prst="rect">
            <a:avLst/>
          </a:prstGeom>
          <a:solidFill>
            <a:srgbClr val="30363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72A"/>
                </a:solidFill>
              </a:rPr>
              <a:t>🥉  Bronze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3898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—  Données brutes, immuables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19933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JSON horodaté (date-partitionné)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59689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Zéro transformation métier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4187952"/>
            <a:ext cx="2578608" cy="274320"/>
          </a:xfrm>
          <a:prstGeom prst="rect">
            <a:avLst/>
          </a:prstGeom>
          <a:solidFill>
            <a:srgbClr val="090D1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" y="41879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6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legends_wiki.json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82112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73552" y="868680"/>
            <a:ext cx="2724912" cy="365760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73552" y="868680"/>
            <a:ext cx="45720" cy="365760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73552" y="868680"/>
            <a:ext cx="2724912" cy="411480"/>
          </a:xfrm>
          <a:prstGeom prst="rect">
            <a:avLst/>
          </a:prstGeom>
          <a:solidFill>
            <a:srgbClr val="30363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10712" y="86868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681"/>
                </a:solidFill>
              </a:rPr>
              <a:t>🥉  Silver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38144" y="13898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—  Nettoyage &amp; typage strict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38144" y="19933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Filtre : &lt; 2 armes → ignoré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38144" y="259689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Normalisation des chaînes (esc)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38144" y="32004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Schéma SQL défini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46704" y="4187952"/>
            <a:ext cx="2578608" cy="274320"/>
          </a:xfrm>
          <a:prstGeom prst="rect">
            <a:avLst/>
          </a:prstGeom>
          <a:solidFill>
            <a:srgbClr val="090D1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346704" y="41879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legends_silver.sql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44184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126480" y="868680"/>
            <a:ext cx="2724912" cy="365760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126480" y="868680"/>
            <a:ext cx="45720" cy="3657600"/>
          </a:xfrm>
          <a:prstGeom prst="rect">
            <a:avLst/>
          </a:prstGeom>
          <a:solidFill>
            <a:srgbClr val="B8972A"/>
          </a:solidFill>
          <a:ln w="12700">
            <a:solidFill>
              <a:srgbClr val="B89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126480" y="868680"/>
            <a:ext cx="2724912" cy="411480"/>
          </a:xfrm>
          <a:prstGeom prst="rect">
            <a:avLst/>
          </a:prstGeom>
          <a:solidFill>
            <a:srgbClr val="30363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63640" y="86868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2A"/>
                </a:solidFill>
              </a:rPr>
              <a:t>🥉  Gold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91072" y="13898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—  Tables métier agrégées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199339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KPIs calculés (total, armes)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259689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Prêt pour BI /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1072" y="32004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—  Rafraîchi à chaque run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9632" y="4187952"/>
            <a:ext cx="2578608" cy="274320"/>
          </a:xfrm>
          <a:prstGeom prst="rect">
            <a:avLst/>
          </a:prstGeom>
          <a:solidFill>
            <a:srgbClr val="090D1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199632" y="41879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legends_gold_kpi.sql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86868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72A"/>
                </a:solidFill>
              </a:rPr>
              <a:t>🥉  Bronze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10712" y="86868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681"/>
                </a:solidFill>
              </a:rPr>
              <a:t>🥈  Silver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868680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2A"/>
                </a:solidFill>
              </a:rPr>
              <a:t>🥇  Gold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0672A"/>
          </a:solidFill>
          <a:ln w="12700">
            <a:solidFill>
              <a:srgbClr val="A06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" y="10972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30363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🥉  BRONZE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Bronze — Ingestion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9052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Lister les Légendes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795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categorymembers sur Category:Legends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Pagination avec cmcontinue (500 / page)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325880"/>
            <a:ext cx="0" cy="51206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91109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Extraire les armes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14884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Wikitext → recherche positionnelle sur 15 armes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Fallback : extract intro si wikitext vide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2295144"/>
            <a:ext cx="0" cy="51206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43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Récupérer l'image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1810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prop=pageimages · pithumbsize=500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→ URL thumbnail CDN Wikia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" y="3264408"/>
            <a:ext cx="0" cy="51206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84962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813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Filtrer &amp; sauvegarder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08736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&lt; 2 armes détectées → page ignorée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time.sleep(0.15) · JSON + metadata horodatés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841248"/>
            <a:ext cx="3749040" cy="4023360"/>
          </a:xfrm>
          <a:prstGeom prst="rect">
            <a:avLst/>
          </a:prstGeom>
          <a:solidFill>
            <a:srgbClr val="090D1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239512" y="950976"/>
            <a:ext cx="3419856" cy="3803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Appel API MediaWiki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 "query",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"list":    "categorymembers",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"cmtitle": "Category:Legends",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"cmlimit": "500",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"format":  "json"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Structure de dossier (cours p.44)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bronze/source=fandom_only/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endpoint=legends/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date=2026-02-13/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legends_wiki.json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metadata_response.json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" y="10972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30363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🥈  SILVER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Silver — Nettoyage &amp; Typage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" y="868680"/>
            <a:ext cx="4206240" cy="182880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4206240" cy="4572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76072" y="10058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005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Filtre des parasites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1417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Toute page récupérée en Bronze sans 2 armes identifiées est écartée définitivement. Ce filtre élimine automatiquement les pages de test, redirects et pages incomplètes du wiki.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80360"/>
            <a:ext cx="4206240" cy="182880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4206240" cy="4572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76072" y="30175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Échappement SQL (esc)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Les apostrophes et backslashes dans les noms (ex : Bödvar, Queen Nai) sont échappés avant insertion. Évite toute injection ou erreur SQL à l'import.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868680"/>
            <a:ext cx="4206240" cy="182880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846320" y="868680"/>
            <a:ext cx="4206240" cy="4572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10912" y="10058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1005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Typage des colonnes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912" y="1417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INT pour l'identifiant · VARCHAR(150/255/100) pour les textes courts · TEXT pour img_url dont les URLs CDN Wikia peuvent dépasser 255 caractères.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4206240" cy="1828800"/>
          </a:xfrm>
          <a:prstGeom prst="rect">
            <a:avLst/>
          </a:prstGeom>
          <a:solidFill>
            <a:srgbClr val="13181F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46320" y="2880360"/>
            <a:ext cx="4206240" cy="4572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10912" y="30175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017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</a:rPr>
              <a:t>ID séquentiel auto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legend_id généré automatiquement de 1 à 66. Pas de dépendance à un identifiant externe — la table est autonome et reproductible à chaque run.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2A"/>
          </a:solidFill>
          <a:ln w="12700">
            <a:solidFill>
              <a:srgbClr val="B89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" y="10972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30363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🥇  GOLD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Gold — KPIs &amp; Agrégations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814816" y="30449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14816" y="33558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814816" y="36667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14816" y="3977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814816" y="4288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814816" y="45994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pic>
        <p:nvPicPr>
          <p:cNvPr id="67" name="Image 66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AF9A03EB-C0FD-374A-FC83-CECD02DDE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30" y="786385"/>
            <a:ext cx="2137158" cy="1780965"/>
          </a:xfrm>
          <a:prstGeom prst="rect">
            <a:avLst/>
          </a:prstGeom>
        </p:spPr>
      </p:pic>
      <p:pic>
        <p:nvPicPr>
          <p:cNvPr id="69" name="Image 68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8CCD1853-927C-D390-1CAD-7433BE431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797431"/>
            <a:ext cx="3539836" cy="1769919"/>
          </a:xfrm>
          <a:prstGeom prst="rect">
            <a:avLst/>
          </a:prstGeom>
        </p:spPr>
      </p:pic>
      <p:pic>
        <p:nvPicPr>
          <p:cNvPr id="71" name="Image 70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2529BD29-99F7-4445-F980-66F720095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30" y="2801119"/>
            <a:ext cx="6060557" cy="1959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505</Words>
  <Application>Microsoft Office PowerPoint</Application>
  <PresentationFormat>Affichage à l'écran (16:9)</PresentationFormat>
  <Paragraphs>98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Brawlhalla Datamining</dc:title>
  <dc:subject>PptxGenJS Presentation</dc:subject>
  <dc:creator>PptxGenJS</dc:creator>
  <cp:lastModifiedBy>Théo CORBUN</cp:lastModifiedBy>
  <cp:revision>7</cp:revision>
  <dcterms:created xsi:type="dcterms:W3CDTF">2026-03-06T10:03:17Z</dcterms:created>
  <dcterms:modified xsi:type="dcterms:W3CDTF">2026-03-12T10:10:26Z</dcterms:modified>
</cp:coreProperties>
</file>